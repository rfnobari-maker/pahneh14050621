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5"/>
  </p:notesMasterIdLst>
  <p:sldIdLst>
    <p:sldId id="302" r:id="rId2"/>
    <p:sldId id="303" r:id="rId3"/>
    <p:sldId id="304" r:id="rId4"/>
    <p:sldId id="29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2" r:id="rId19"/>
    <p:sldId id="271" r:id="rId20"/>
    <p:sldId id="275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6" r:id="rId40"/>
    <p:sldId id="297" r:id="rId41"/>
    <p:sldId id="298" r:id="rId42"/>
    <p:sldId id="300" r:id="rId43"/>
    <p:sldId id="301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5" autoAdjust="0"/>
    <p:restoredTop sz="94660"/>
  </p:normalViewPr>
  <p:slideViewPr>
    <p:cSldViewPr>
      <p:cViewPr>
        <p:scale>
          <a:sx n="60" d="100"/>
          <a:sy n="60" d="100"/>
        </p:scale>
        <p:origin x="-1470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FBA25-063A-4A8F-8CD2-B7B1208F4128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3D5D6-311E-4494-ABEE-16B296DB36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77E4033-D25E-4663-8263-3FACAC7FC629}" type="slidenum">
              <a:rPr lang="en-US" smtClean="0">
                <a:latin typeface="Arial" charset="0"/>
                <a:cs typeface="Arial" charset="0"/>
              </a:rPr>
              <a:pPr/>
              <a:t>42</a:t>
            </a:fld>
            <a:endParaRPr lang="en-US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85612FA-FAD2-4778-8C87-C527F4ACD737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D01C8D97-F425-424F-84BC-F99E4EEAE6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8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9" descr="1_342260_1342440428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7" descr="H:\Si Saleh\FP Simorgh\Arm-2.gif"/>
          <p:cNvPicPr>
            <a:picLocks noChangeAspect="1" noChangeArrowheads="1"/>
          </p:cNvPicPr>
          <p:nvPr/>
        </p:nvPicPr>
        <p:blipFill>
          <a:blip r:embed="rId3" cstate="print"/>
          <a:srcRect l="9091" t="7999" r="27273" b="16002"/>
          <a:stretch>
            <a:fillRect/>
          </a:stretch>
        </p:blipFill>
        <p:spPr bwMode="auto">
          <a:xfrm>
            <a:off x="7572396" y="71438"/>
            <a:ext cx="1500198" cy="13572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ounded Rectangle 5"/>
          <p:cNvSpPr/>
          <p:nvPr/>
        </p:nvSpPr>
        <p:spPr bwMode="auto">
          <a:xfrm>
            <a:off x="304800" y="914400"/>
            <a:ext cx="8572560" cy="5638800"/>
          </a:xfrm>
          <a:prstGeom prst="round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18" tIns="45710" rIns="91418" bIns="45710" rtlCol="1"/>
          <a:lstStyle/>
          <a:p>
            <a:pPr algn="ctr" eaLnBrk="0" hangingPunct="0">
              <a:defRPr/>
            </a:pPr>
            <a:endParaRPr lang="en-US" sz="2800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cs typeface="B Titr" pitchFamily="2" charset="-78"/>
            </a:endParaRPr>
          </a:p>
          <a:p>
            <a:pPr algn="ctr" rtl="1" eaLnBrk="0" hangingPunct="0">
              <a:defRPr/>
            </a:pPr>
            <a:r>
              <a:rPr lang="fa-IR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cs typeface="B Titr" pitchFamily="2" charset="-78"/>
              </a:rPr>
              <a:t>ثبت </a:t>
            </a:r>
            <a:r>
              <a:rPr lang="fa-IR" sz="6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cs typeface="B Titr" pitchFamily="2" charset="-78"/>
              </a:rPr>
              <a:t>محصولات </a:t>
            </a:r>
            <a:r>
              <a:rPr lang="fa-IR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cs typeface="B Titr" pitchFamily="2" charset="-78"/>
              </a:rPr>
              <a:t>سبزی و </a:t>
            </a:r>
            <a:r>
              <a:rPr lang="fa-IR" sz="6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cs typeface="B Titr" pitchFamily="2" charset="-78"/>
              </a:rPr>
              <a:t>صیفی </a:t>
            </a:r>
            <a:endParaRPr lang="en-US" sz="6000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cs typeface="B Titr" pitchFamily="2" charset="-78"/>
            </a:endParaRPr>
          </a:p>
          <a:p>
            <a:pPr algn="ctr" eaLnBrk="0" hangingPunct="0">
              <a:defRPr/>
            </a:pPr>
            <a:r>
              <a:rPr lang="fa-IR" sz="3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cs typeface="B Titr" pitchFamily="2" charset="-78"/>
              </a:rPr>
              <a:t>گو</a:t>
            </a:r>
            <a:r>
              <a:rPr lang="fa-IR" sz="4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cs typeface="B Titr" pitchFamily="2" charset="-78"/>
              </a:rPr>
              <a:t>جه </a:t>
            </a:r>
            <a:r>
              <a:rPr lang="fa-IR" sz="4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cs typeface="B Titr" pitchFamily="2" charset="-78"/>
              </a:rPr>
              <a:t>فرنگی ، پیاز و سیب زمینی </a:t>
            </a:r>
            <a:endParaRPr lang="en-US" sz="4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cs typeface="B Titr" pitchFamily="2" charset="-78"/>
            </a:endParaRPr>
          </a:p>
          <a:p>
            <a:pPr algn="ctr" eaLnBrk="0" hangingPunct="0">
              <a:defRPr/>
            </a:pPr>
            <a:endParaRPr lang="en-US" sz="8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cs typeface="B Titr" pitchFamily="2" charset="-78"/>
            </a:endParaRPr>
          </a:p>
        </p:txBody>
      </p:sp>
      <p:pic>
        <p:nvPicPr>
          <p:cNvPr id="12" name="Picture 11" descr="parcham 1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71438"/>
            <a:ext cx="1714480" cy="1428736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7" name="Picture 6" descr="Ve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24200" y="3581400"/>
            <a:ext cx="2819400" cy="284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89101" y="6334780"/>
            <a:ext cx="7354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سامانه پهنه بندی و مدیریت داده های کشاورزی 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2"/>
          <p:cNvSpPr>
            <a:spLocks noGrp="1" noChangeArrowheads="1"/>
          </p:cNvSpPr>
          <p:nvPr>
            <p:ph type="ctrTitle"/>
          </p:nvPr>
        </p:nvSpPr>
        <p:spPr>
          <a:xfrm>
            <a:off x="755650" y="836613"/>
            <a:ext cx="7772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UY" smtClean="0">
                <a:solidFill>
                  <a:schemeClr val="bg1"/>
                </a:solidFill>
              </a:rPr>
              <a:t>TITLE</a:t>
            </a:r>
            <a:endParaRPr lang="es-ES" smtClean="0">
              <a:solidFill>
                <a:schemeClr val="bg1"/>
              </a:solidFill>
            </a:endParaRPr>
          </a:p>
        </p:txBody>
      </p:sp>
      <p:pic>
        <p:nvPicPr>
          <p:cNvPr id="6147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4450" y="-26988"/>
            <a:ext cx="9224963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6324600" y="223838"/>
            <a:ext cx="2533650" cy="842962"/>
          </a:xfrm>
        </p:spPr>
        <p:txBody>
          <a:bodyPr>
            <a:normAutofit fontScale="90000"/>
          </a:bodyPr>
          <a:lstStyle/>
          <a:p>
            <a:pPr algn="r" rtl="1" eaLnBrk="1" hangingPunct="1">
              <a:lnSpc>
                <a:spcPct val="150000"/>
              </a:lnSpc>
            </a:pPr>
            <a:r>
              <a:rPr lang="fa-IR" sz="4000" dirty="0" smtClean="0">
                <a:solidFill>
                  <a:srgbClr val="C00000"/>
                </a:solidFill>
                <a:cs typeface="B Titr" pitchFamily="2" charset="-78"/>
              </a:rPr>
              <a:t> هدف طرح : </a:t>
            </a:r>
            <a:r>
              <a:rPr lang="en-US" sz="4000" dirty="0" smtClean="0">
                <a:solidFill>
                  <a:srgbClr val="C00000"/>
                </a:solidFill>
                <a:cs typeface="B Titr" pitchFamily="2" charset="-78"/>
              </a:rPr>
              <a:t/>
            </a:r>
            <a:br>
              <a:rPr lang="en-US" sz="4000" dirty="0" smtClean="0">
                <a:solidFill>
                  <a:srgbClr val="C00000"/>
                </a:solidFill>
                <a:cs typeface="B Titr" pitchFamily="2" charset="-78"/>
              </a:rPr>
            </a:br>
            <a:endParaRPr lang="en-US" sz="3600" dirty="0" smtClean="0">
              <a:cs typeface="B Titr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4684693"/>
            <a:ext cx="7620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sz="2800" dirty="0" smtClean="0">
                <a:cs typeface="B Titr" pitchFamily="2" charset="-78"/>
              </a:rPr>
              <a:t>4- میانگین تولید هر یک از محصولات به تفکیک فصل تولید و منطقه جغرافیایی 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990600" y="8382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fa-IR" sz="32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دریافت اطلاعات دقیق از عرصه های تولید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1676400"/>
            <a:ext cx="5933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2800" dirty="0" smtClean="0">
                <a:cs typeface="B Titr" pitchFamily="2" charset="-78"/>
              </a:rPr>
              <a:t>1- میزان سطح زیر کشت هر یک از محصولات 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-76200" y="2551093"/>
            <a:ext cx="8153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sz="2800" dirty="0" smtClean="0">
                <a:cs typeface="B Titr" pitchFamily="2" charset="-78"/>
              </a:rPr>
              <a:t>2- میزان پیش بینی تولید در طول سال زراعی به تفکیک فصل تولید و منطقه جغرافیایی 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3505200" y="377029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sz="2800" dirty="0" smtClean="0">
                <a:cs typeface="B Titr" pitchFamily="2" charset="-78"/>
              </a:rPr>
              <a:t>3- تاریخ ارسال محصول به بازار </a:t>
            </a:r>
            <a:br>
              <a:rPr lang="fa-IR" sz="2800" dirty="0" smtClean="0">
                <a:cs typeface="B Titr" pitchFamily="2" charset="-78"/>
              </a:rPr>
            </a:br>
            <a:endParaRPr lang="en-US" sz="2800" dirty="0"/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7772400" cy="38862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lnSpc>
                <a:spcPct val="200000"/>
              </a:lnSpc>
              <a:buClr>
                <a:srgbClr val="FF0000"/>
              </a:buClr>
              <a:buSzPct val="137000"/>
              <a:buFont typeface="Wingdings" pitchFamily="2" charset="2"/>
              <a:buChar char="Ø"/>
            </a:pPr>
            <a:r>
              <a:rPr lang="fa-IR" sz="2800" dirty="0" smtClean="0">
                <a:solidFill>
                  <a:srgbClr val="002060"/>
                </a:solidFill>
                <a:cs typeface="2  Titr" pitchFamily="2" charset="-78"/>
              </a:rPr>
              <a:t>استفاده درست و صحیح از منابع تولید </a:t>
            </a:r>
          </a:p>
          <a:p>
            <a:pPr algn="r" rtl="1">
              <a:lnSpc>
                <a:spcPct val="200000"/>
              </a:lnSpc>
              <a:buClr>
                <a:srgbClr val="FF0000"/>
              </a:buClr>
              <a:buSzPct val="137000"/>
              <a:buFont typeface="Wingdings" pitchFamily="2" charset="2"/>
              <a:buChar char="Ø"/>
            </a:pPr>
            <a:r>
              <a:rPr lang="fa-IR" sz="2800" dirty="0" smtClean="0">
                <a:solidFill>
                  <a:srgbClr val="002060"/>
                </a:solidFill>
                <a:cs typeface="2  Titr" pitchFamily="2" charset="-78"/>
              </a:rPr>
              <a:t>تثبیت درآمد بهره برداران بخش </a:t>
            </a:r>
          </a:p>
          <a:p>
            <a:pPr algn="r" rtl="1">
              <a:lnSpc>
                <a:spcPct val="200000"/>
              </a:lnSpc>
              <a:buClr>
                <a:srgbClr val="FF0000"/>
              </a:buClr>
              <a:buSzPct val="137000"/>
              <a:buFont typeface="Wingdings" pitchFamily="2" charset="2"/>
              <a:buChar char="Ø"/>
            </a:pPr>
            <a:r>
              <a:rPr lang="fa-IR" sz="2800" dirty="0" smtClean="0">
                <a:solidFill>
                  <a:srgbClr val="002060"/>
                </a:solidFill>
                <a:cs typeface="2  Titr" pitchFamily="2" charset="-78"/>
              </a:rPr>
              <a:t>حمایت از مصرف کنندکان با کاهش نوسانات قیمت</a:t>
            </a:r>
            <a:endParaRPr lang="en-US" sz="2800" dirty="0">
              <a:solidFill>
                <a:srgbClr val="002060"/>
              </a:solidFill>
              <a:cs typeface="2  Titr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4" grpId="0"/>
      <p:bldP spid="5" grpId="0"/>
      <p:bldP spid="6" grpId="0"/>
      <p:bldP spid="7" grpId="0"/>
      <p:bldP spid="8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/>
          <p:cNvSpPr/>
          <p:nvPr/>
        </p:nvSpPr>
        <p:spPr>
          <a:xfrm>
            <a:off x="152400" y="152400"/>
            <a:ext cx="8763000" cy="6400800"/>
          </a:xfrm>
          <a:prstGeom prst="roundRect">
            <a:avLst/>
          </a:prstGeom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066800" y="3810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رئیس مرکز</a:t>
            </a:r>
            <a:endParaRPr lang="en-US" sz="1400" dirty="0"/>
          </a:p>
        </p:txBody>
      </p:sp>
      <p:sp>
        <p:nvSpPr>
          <p:cNvPr id="34" name="Rounded Rectangle 33"/>
          <p:cNvSpPr/>
          <p:nvPr/>
        </p:nvSpPr>
        <p:spPr>
          <a:xfrm>
            <a:off x="6934200" y="838200"/>
            <a:ext cx="1752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 smtClean="0"/>
              <a:t>اطلاعات اولیه</a:t>
            </a:r>
            <a:endParaRPr lang="en-US" dirty="0"/>
          </a:p>
        </p:txBody>
      </p:sp>
      <p:sp>
        <p:nvSpPr>
          <p:cNvPr id="35" name="Rounded Rectangle 34"/>
          <p:cNvSpPr/>
          <p:nvPr/>
        </p:nvSpPr>
        <p:spPr>
          <a:xfrm>
            <a:off x="7010400" y="3048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کارشناس پهنه</a:t>
            </a:r>
            <a:endParaRPr lang="en-US" sz="1400" dirty="0"/>
          </a:p>
        </p:txBody>
      </p:sp>
      <p:pic>
        <p:nvPicPr>
          <p:cNvPr id="37" name="Picture 36" descr="noto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2125" y="914400"/>
            <a:ext cx="371475" cy="371475"/>
          </a:xfrm>
          <a:prstGeom prst="rect">
            <a:avLst/>
          </a:prstGeom>
        </p:spPr>
      </p:pic>
      <p:pic>
        <p:nvPicPr>
          <p:cNvPr id="38" name="Picture 37" descr="conifor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600" y="1371600"/>
            <a:ext cx="457200" cy="45720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6858000" y="3352800"/>
            <a:ext cx="1905000" cy="609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 smtClean="0"/>
              <a:t>اطلاعات تکمیلی</a:t>
            </a:r>
            <a:endParaRPr lang="en-US" dirty="0"/>
          </a:p>
        </p:txBody>
      </p:sp>
      <p:sp>
        <p:nvSpPr>
          <p:cNvPr id="42" name="Rounded Rectangle 41"/>
          <p:cNvSpPr/>
          <p:nvPr/>
        </p:nvSpPr>
        <p:spPr>
          <a:xfrm>
            <a:off x="7010400" y="28194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کارشناس پهنه</a:t>
            </a:r>
            <a:endParaRPr lang="en-US" sz="1400" dirty="0"/>
          </a:p>
        </p:txBody>
      </p:sp>
      <p:sp>
        <p:nvSpPr>
          <p:cNvPr id="49" name="Rounded Rectangle 48"/>
          <p:cNvSpPr/>
          <p:nvPr/>
        </p:nvSpPr>
        <p:spPr>
          <a:xfrm>
            <a:off x="4953000" y="5181600"/>
            <a:ext cx="3733800" cy="6096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 smtClean="0"/>
              <a:t>ثبت اطلاعات سطح برداشت و تولید </a:t>
            </a:r>
            <a:endParaRPr lang="en-US" dirty="0"/>
          </a:p>
        </p:txBody>
      </p:sp>
      <p:sp>
        <p:nvSpPr>
          <p:cNvPr id="50" name="Rounded Rectangle 49"/>
          <p:cNvSpPr/>
          <p:nvPr/>
        </p:nvSpPr>
        <p:spPr>
          <a:xfrm>
            <a:off x="7010400" y="46482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کارشناس پهنه</a:t>
            </a:r>
            <a:endParaRPr lang="en-US" sz="1400" dirty="0"/>
          </a:p>
        </p:txBody>
      </p:sp>
      <p:sp>
        <p:nvSpPr>
          <p:cNvPr id="51" name="Horizontal Scroll 50"/>
          <p:cNvSpPr/>
          <p:nvPr/>
        </p:nvSpPr>
        <p:spPr>
          <a:xfrm>
            <a:off x="3048000" y="1981200"/>
            <a:ext cx="3200400" cy="762000"/>
          </a:xfrm>
          <a:prstGeom prst="horizontalScroll">
            <a:avLst/>
          </a:prstGeom>
          <a:solidFill>
            <a:srgbClr val="C0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 smtClean="0"/>
              <a:t>45 روز بعد از اولین آبیاری</a:t>
            </a:r>
            <a:endParaRPr lang="en-US" b="1" dirty="0"/>
          </a:p>
        </p:txBody>
      </p:sp>
      <p:sp>
        <p:nvSpPr>
          <p:cNvPr id="54" name="Curved Right Arrow 53"/>
          <p:cNvSpPr/>
          <p:nvPr/>
        </p:nvSpPr>
        <p:spPr>
          <a:xfrm>
            <a:off x="1143000" y="1524000"/>
            <a:ext cx="533400" cy="762000"/>
          </a:xfrm>
          <a:prstGeom prst="curvedRightArrow">
            <a:avLst/>
          </a:prstGeom>
          <a:solidFill>
            <a:srgbClr val="92D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8" name="Picture 57" descr="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857875" y="762000"/>
            <a:ext cx="1076325" cy="838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76" name="Straight Arrow Connector 75"/>
          <p:cNvCxnSpPr/>
          <p:nvPr/>
        </p:nvCxnSpPr>
        <p:spPr>
          <a:xfrm rot="10800000">
            <a:off x="3469481" y="925286"/>
            <a:ext cx="1735931" cy="20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662363" y="442686"/>
            <a:ext cx="1543050" cy="4176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cs typeface="B Titr" pitchFamily="2" charset="-78"/>
              </a:rPr>
              <a:t>ثبت و ارسال</a:t>
            </a:r>
            <a:endParaRPr lang="en-US" sz="2400" dirty="0"/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3533775" y="1132114"/>
            <a:ext cx="1671638" cy="14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662363" y="1201057"/>
            <a:ext cx="1543050" cy="4176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cs typeface="B Titr" pitchFamily="2" charset="-78"/>
              </a:rPr>
              <a:t>عدم تائید</a:t>
            </a:r>
            <a:endParaRPr lang="en-US" sz="2400" dirty="0"/>
          </a:p>
        </p:txBody>
      </p:sp>
      <p:sp>
        <p:nvSpPr>
          <p:cNvPr id="80" name="Oval 79"/>
          <p:cNvSpPr/>
          <p:nvPr/>
        </p:nvSpPr>
        <p:spPr>
          <a:xfrm>
            <a:off x="3352800" y="304800"/>
            <a:ext cx="2057400" cy="1447800"/>
          </a:xfrm>
          <a:prstGeom prst="ellipse">
            <a:avLst/>
          </a:prstGeom>
          <a:solidFill>
            <a:srgbClr val="92D050">
              <a:alpha val="16000"/>
            </a:srgbClr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 descr="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91200" y="3352800"/>
            <a:ext cx="1076325" cy="838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8" name="Picture 87" descr="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76675" y="5181600"/>
            <a:ext cx="1076325" cy="838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90" name="Straight Connector 89"/>
          <p:cNvCxnSpPr/>
          <p:nvPr/>
        </p:nvCxnSpPr>
        <p:spPr>
          <a:xfrm rot="10800000">
            <a:off x="838200" y="1905000"/>
            <a:ext cx="7772400" cy="1589"/>
          </a:xfrm>
          <a:prstGeom prst="line">
            <a:avLst/>
          </a:prstGeom>
          <a:ln w="635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rot="10800000">
            <a:off x="3393281" y="3592286"/>
            <a:ext cx="1735931" cy="20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586163" y="3109686"/>
            <a:ext cx="1543050" cy="4176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cs typeface="B Titr" pitchFamily="2" charset="-78"/>
              </a:rPr>
              <a:t>ثبت و ارسال</a:t>
            </a:r>
            <a:endParaRPr lang="en-US" sz="2400" dirty="0"/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3457575" y="3799114"/>
            <a:ext cx="1671638" cy="14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586163" y="3868057"/>
            <a:ext cx="1543050" cy="4176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cs typeface="B Titr" pitchFamily="2" charset="-78"/>
              </a:rPr>
              <a:t>عدم تائید</a:t>
            </a:r>
            <a:endParaRPr lang="en-US" sz="2400" dirty="0"/>
          </a:p>
        </p:txBody>
      </p:sp>
      <p:sp>
        <p:nvSpPr>
          <p:cNvPr id="96" name="Oval 95"/>
          <p:cNvSpPr/>
          <p:nvPr/>
        </p:nvSpPr>
        <p:spPr>
          <a:xfrm>
            <a:off x="3200400" y="2895600"/>
            <a:ext cx="2057400" cy="1447800"/>
          </a:xfrm>
          <a:prstGeom prst="ellipse">
            <a:avLst/>
          </a:prstGeom>
          <a:solidFill>
            <a:srgbClr val="FFFF00">
              <a:alpha val="16000"/>
            </a:srgbClr>
          </a:solidFill>
          <a:ln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ounded Rectangle 106"/>
          <p:cNvSpPr/>
          <p:nvPr/>
        </p:nvSpPr>
        <p:spPr>
          <a:xfrm>
            <a:off x="1143000" y="28956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رئیس مرکز</a:t>
            </a:r>
            <a:endParaRPr lang="en-US" sz="1400" dirty="0"/>
          </a:p>
        </p:txBody>
      </p:sp>
      <p:pic>
        <p:nvPicPr>
          <p:cNvPr id="108" name="Picture 107" descr="noto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8325" y="3429000"/>
            <a:ext cx="371475" cy="371475"/>
          </a:xfrm>
          <a:prstGeom prst="rect">
            <a:avLst/>
          </a:prstGeom>
        </p:spPr>
      </p:pic>
      <p:pic>
        <p:nvPicPr>
          <p:cNvPr id="109" name="Picture 108" descr="conifor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0" y="3886200"/>
            <a:ext cx="457200" cy="457200"/>
          </a:xfrm>
          <a:prstGeom prst="rect">
            <a:avLst/>
          </a:prstGeom>
        </p:spPr>
      </p:pic>
      <p:sp>
        <p:nvSpPr>
          <p:cNvPr id="110" name="Curved Right Arrow 109"/>
          <p:cNvSpPr/>
          <p:nvPr/>
        </p:nvSpPr>
        <p:spPr>
          <a:xfrm>
            <a:off x="1219200" y="4038600"/>
            <a:ext cx="533400" cy="762000"/>
          </a:xfrm>
          <a:prstGeom prst="curvedRightArrow">
            <a:avLst/>
          </a:prstGeom>
          <a:solidFill>
            <a:srgbClr val="92D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 rot="10800000">
            <a:off x="914400" y="4419600"/>
            <a:ext cx="7772400" cy="1589"/>
          </a:xfrm>
          <a:prstGeom prst="line">
            <a:avLst/>
          </a:prstGeom>
          <a:ln w="635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41" grpId="0" animBg="1"/>
      <p:bldP spid="42" grpId="0" animBg="1"/>
      <p:bldP spid="49" grpId="0" animBg="1"/>
      <p:bldP spid="50" grpId="0" animBg="1"/>
      <p:bldP spid="51" grpId="0" animBg="1"/>
      <p:bldP spid="54" grpId="0" animBg="1"/>
      <p:bldP spid="77" grpId="0"/>
      <p:bldP spid="79" grpId="0"/>
      <p:bldP spid="80" grpId="0" animBg="1"/>
      <p:bldP spid="93" grpId="0"/>
      <p:bldP spid="95" grpId="0"/>
      <p:bldP spid="96" grpId="0" animBg="1"/>
      <p:bldP spid="107" grpId="0" animBg="1"/>
      <p:bldP spid="1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5469" t="4167" r="7813" b="6250"/>
          <a:stretch>
            <a:fillRect/>
          </a:stretch>
        </p:blipFill>
        <p:spPr bwMode="auto">
          <a:xfrm>
            <a:off x="228600" y="152400"/>
            <a:ext cx="8458200" cy="6553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906" t="4167" r="6250" b="6250"/>
          <a:stretch>
            <a:fillRect/>
          </a:stretch>
        </p:blipFill>
        <p:spPr bwMode="auto">
          <a:xfrm>
            <a:off x="152400" y="152400"/>
            <a:ext cx="8763000" cy="6553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43400" y="4953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9327" t="8333" r="12152" b="6250"/>
          <a:stretch>
            <a:fillRect/>
          </a:stretch>
        </p:blipFill>
        <p:spPr bwMode="auto">
          <a:xfrm>
            <a:off x="152400" y="533400"/>
            <a:ext cx="89154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800" y="274320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0156" t="8333" r="11719" b="6250"/>
          <a:stretch>
            <a:fillRect/>
          </a:stretch>
        </p:blipFill>
        <p:spPr bwMode="auto">
          <a:xfrm>
            <a:off x="685800" y="228600"/>
            <a:ext cx="7848600" cy="64358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5000" y="182880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9375" t="8333" r="11719" b="4167"/>
          <a:stretch>
            <a:fillRect/>
          </a:stretch>
        </p:blipFill>
        <p:spPr bwMode="auto">
          <a:xfrm>
            <a:off x="457200" y="228600"/>
            <a:ext cx="82296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52800" y="2286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10938" t="8333" r="11719" b="6250"/>
          <a:stretch>
            <a:fillRect/>
          </a:stretch>
        </p:blipFill>
        <p:spPr bwMode="auto">
          <a:xfrm>
            <a:off x="685800" y="304800"/>
            <a:ext cx="75438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47925" y="2743200"/>
            <a:ext cx="3419475" cy="1314450"/>
          </a:xfrm>
          <a:prstGeom prst="rect">
            <a:avLst/>
          </a:prstGeom>
        </p:spPr>
      </p:pic>
      <p:pic>
        <p:nvPicPr>
          <p:cNvPr id="6" name="Picture 5" descr="cli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38600" y="29718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10156" t="7292" r="12500" b="6250"/>
          <a:stretch>
            <a:fillRect/>
          </a:stretch>
        </p:blipFill>
        <p:spPr bwMode="auto">
          <a:xfrm>
            <a:off x="609600" y="152400"/>
            <a:ext cx="7848600" cy="65801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8200" y="4267200"/>
            <a:ext cx="457200" cy="457200"/>
          </a:xfrm>
          <a:prstGeom prst="rect">
            <a:avLst/>
          </a:prstGeom>
        </p:spPr>
      </p:pic>
      <p:pic>
        <p:nvPicPr>
          <p:cNvPr id="6" name="Picture 5" descr="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84456" y="4038600"/>
            <a:ext cx="1278194" cy="2438400"/>
          </a:xfrm>
          <a:prstGeom prst="rect">
            <a:avLst/>
          </a:prstGeom>
        </p:spPr>
      </p:pic>
      <p:pic>
        <p:nvPicPr>
          <p:cNvPr id="7" name="Picture 6" descr="3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2000" y="4038600"/>
            <a:ext cx="1457325" cy="504825"/>
          </a:xfrm>
          <a:prstGeom prst="rect">
            <a:avLst/>
          </a:prstGeom>
        </p:spPr>
      </p:pic>
      <p:pic>
        <p:nvPicPr>
          <p:cNvPr id="8" name="Picture 7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62400" y="510540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10938" t="8333" r="14062" b="6250"/>
          <a:stretch>
            <a:fillRect/>
          </a:stretch>
        </p:blipFill>
        <p:spPr bwMode="auto">
          <a:xfrm>
            <a:off x="609600" y="228600"/>
            <a:ext cx="7620000" cy="650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ounded Rectangle 4"/>
          <p:cNvSpPr/>
          <p:nvPr/>
        </p:nvSpPr>
        <p:spPr>
          <a:xfrm>
            <a:off x="1066800" y="457200"/>
            <a:ext cx="6629400" cy="762000"/>
          </a:xfrm>
          <a:prstGeom prst="roundRect">
            <a:avLst/>
          </a:prstGeom>
          <a:solidFill>
            <a:srgbClr val="00B0F0">
              <a:alpha val="5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81600" y="548640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10156" t="7292" r="10938" b="6250"/>
          <a:stretch>
            <a:fillRect/>
          </a:stretch>
        </p:blipFill>
        <p:spPr bwMode="auto">
          <a:xfrm>
            <a:off x="609600" y="228600"/>
            <a:ext cx="76962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l="10156" t="30208" r="11719" b="15625"/>
          <a:stretch>
            <a:fillRect/>
          </a:stretch>
        </p:blipFill>
        <p:spPr bwMode="auto">
          <a:xfrm>
            <a:off x="838200" y="1676400"/>
            <a:ext cx="7620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2495550"/>
            <a:ext cx="639535" cy="857250"/>
          </a:xfrm>
          <a:prstGeom prst="rect">
            <a:avLst/>
          </a:prstGeom>
        </p:spPr>
      </p:pic>
      <p:pic>
        <p:nvPicPr>
          <p:cNvPr id="6" name="Picture 5" descr="cli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2000" y="2667000"/>
            <a:ext cx="457200" cy="457200"/>
          </a:xfrm>
          <a:prstGeom prst="rect">
            <a:avLst/>
          </a:prstGeom>
        </p:spPr>
      </p:pic>
      <p:pic>
        <p:nvPicPr>
          <p:cNvPr id="7" name="Picture 6" descr="cli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52800" y="2590800"/>
            <a:ext cx="457200" cy="457200"/>
          </a:xfrm>
          <a:prstGeom prst="rect">
            <a:avLst/>
          </a:prstGeom>
        </p:spPr>
      </p:pic>
      <p:pic>
        <p:nvPicPr>
          <p:cNvPr id="8" name="Picture 7" descr="5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38525" y="2438400"/>
            <a:ext cx="1133475" cy="1295400"/>
          </a:xfrm>
          <a:prstGeom prst="rect">
            <a:avLst/>
          </a:prstGeom>
        </p:spPr>
      </p:pic>
      <p:pic>
        <p:nvPicPr>
          <p:cNvPr id="9" name="Picture 8" descr="cli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86400" y="3048000"/>
            <a:ext cx="457200" cy="457200"/>
          </a:xfrm>
          <a:prstGeom prst="rect">
            <a:avLst/>
          </a:prstGeom>
        </p:spPr>
      </p:pic>
      <p:pic>
        <p:nvPicPr>
          <p:cNvPr id="10" name="Picture 9" descr="6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524500" y="2895600"/>
            <a:ext cx="952500" cy="1104900"/>
          </a:xfrm>
          <a:prstGeom prst="rect">
            <a:avLst/>
          </a:prstGeom>
        </p:spPr>
      </p:pic>
      <p:pic>
        <p:nvPicPr>
          <p:cNvPr id="11" name="Picture 10" descr="cli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86400" y="3581400"/>
            <a:ext cx="457200" cy="457200"/>
          </a:xfrm>
          <a:prstGeom prst="rect">
            <a:avLst/>
          </a:prstGeom>
        </p:spPr>
      </p:pic>
      <p:pic>
        <p:nvPicPr>
          <p:cNvPr id="12" name="Picture 11" descr="7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553075" y="1295400"/>
            <a:ext cx="923925" cy="2400300"/>
          </a:xfrm>
          <a:prstGeom prst="rect">
            <a:avLst/>
          </a:prstGeom>
        </p:spPr>
      </p:pic>
      <p:pic>
        <p:nvPicPr>
          <p:cNvPr id="13" name="Picture 12" descr="click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19600" y="49530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 l="7813" t="10417" r="9375" b="6250"/>
          <a:stretch>
            <a:fillRect/>
          </a:stretch>
        </p:blipFill>
        <p:spPr bwMode="auto">
          <a:xfrm>
            <a:off x="0" y="-79075"/>
            <a:ext cx="9144000" cy="6901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t="5208" r="9375" b="4167"/>
          <a:stretch>
            <a:fillRect/>
          </a:stretch>
        </p:blipFill>
        <p:spPr bwMode="auto">
          <a:xfrm>
            <a:off x="152400" y="76200"/>
            <a:ext cx="8839200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00200" y="2057400"/>
            <a:ext cx="613684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fa-IR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ورود به سامانه با نام کاربری </a:t>
            </a:r>
          </a:p>
          <a:p>
            <a:pPr algn="ctr">
              <a:lnSpc>
                <a:spcPct val="200000"/>
              </a:lnSpc>
            </a:pPr>
            <a:r>
              <a:rPr lang="fa-IR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رئیس مرکز جهاد کشاورزی </a:t>
            </a:r>
            <a:endParaRPr lang="en-US" sz="4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 l="11667" t="40625" r="10000" b="7292"/>
          <a:stretch>
            <a:fillRect/>
          </a:stretch>
        </p:blipFill>
        <p:spPr bwMode="auto">
          <a:xfrm>
            <a:off x="521208" y="1371600"/>
            <a:ext cx="8165592" cy="472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62800" y="39624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l="7813" t="10417" r="9375" b="6250"/>
          <a:stretch>
            <a:fillRect/>
          </a:stretch>
        </p:blipFill>
        <p:spPr bwMode="auto">
          <a:xfrm>
            <a:off x="304800" y="228600"/>
            <a:ext cx="8458200" cy="63835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58674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 l="2344" t="7292" r="6250" b="4166"/>
          <a:stretch>
            <a:fillRect/>
          </a:stretch>
        </p:blipFill>
        <p:spPr bwMode="auto">
          <a:xfrm>
            <a:off x="76200" y="152400"/>
            <a:ext cx="89154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10400" y="64770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 l="7813" t="8333" r="9375" b="6250"/>
          <a:stretch>
            <a:fillRect/>
          </a:stretch>
        </p:blipFill>
        <p:spPr bwMode="auto">
          <a:xfrm>
            <a:off x="152400" y="162464"/>
            <a:ext cx="8763000" cy="65431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00200" y="2057400"/>
            <a:ext cx="613684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fa-IR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ورود به سامانه با نام کاربری </a:t>
            </a:r>
          </a:p>
          <a:p>
            <a:pPr algn="ctr">
              <a:lnSpc>
                <a:spcPct val="200000"/>
              </a:lnSpc>
            </a:pPr>
            <a:r>
              <a:rPr lang="fa-IR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کارشناس پهنه</a:t>
            </a:r>
            <a:endParaRPr lang="en-US" sz="4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15227" t="18750" r="54319" b="13542"/>
          <a:stretch>
            <a:fillRect/>
          </a:stretch>
        </p:blipFill>
        <p:spPr bwMode="auto">
          <a:xfrm>
            <a:off x="2819400" y="1143000"/>
            <a:ext cx="3962400" cy="4953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34290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 l="7813" t="9375" r="9375" b="625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5227" t="18750" r="54319" b="13542"/>
          <a:stretch>
            <a:fillRect/>
          </a:stretch>
        </p:blipFill>
        <p:spPr bwMode="auto">
          <a:xfrm>
            <a:off x="2819400" y="1143000"/>
            <a:ext cx="3962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76800" y="41910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 l="7812" t="8333" r="9375" b="937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ounded Rectangle 4"/>
          <p:cNvSpPr/>
          <p:nvPr/>
        </p:nvSpPr>
        <p:spPr>
          <a:xfrm>
            <a:off x="2362200" y="4114800"/>
            <a:ext cx="4419600" cy="685800"/>
          </a:xfrm>
          <a:prstGeom prst="roundRect">
            <a:avLst/>
          </a:prstGeom>
          <a:solidFill>
            <a:srgbClr val="0070C0">
              <a:alpha val="1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64770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4056" r="15666" b="4167"/>
          <a:stretch>
            <a:fillRect/>
          </a:stretch>
        </p:blipFill>
        <p:spPr bwMode="auto">
          <a:xfrm>
            <a:off x="152400" y="0"/>
            <a:ext cx="8839200" cy="6776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0" y="5334000"/>
            <a:ext cx="685800" cy="828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8155" t="9375" r="19766" b="6250"/>
          <a:stretch>
            <a:fillRect/>
          </a:stretch>
        </p:blipFill>
        <p:spPr bwMode="auto">
          <a:xfrm>
            <a:off x="533400" y="457200"/>
            <a:ext cx="8077200" cy="6172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00200" y="2057400"/>
            <a:ext cx="613684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fa-IR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ورود به سامانه با نام کاربری </a:t>
            </a:r>
          </a:p>
          <a:p>
            <a:pPr algn="ctr">
              <a:lnSpc>
                <a:spcPct val="200000"/>
              </a:lnSpc>
            </a:pPr>
            <a:r>
              <a:rPr lang="fa-IR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رئیس مرکز جهاد کشاورزی </a:t>
            </a:r>
            <a:endParaRPr lang="en-US" sz="4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 l="11667" t="40625" r="10000" b="7292"/>
          <a:stretch>
            <a:fillRect/>
          </a:stretch>
        </p:blipFill>
        <p:spPr bwMode="auto">
          <a:xfrm>
            <a:off x="521208" y="1371600"/>
            <a:ext cx="8165592" cy="472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67200" y="3886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8155" t="9375" r="19766" b="6250"/>
          <a:stretch>
            <a:fillRect/>
          </a:stretch>
        </p:blipFill>
        <p:spPr bwMode="auto">
          <a:xfrm>
            <a:off x="76200" y="125802"/>
            <a:ext cx="8915400" cy="65797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62484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1171" t="3125" r="27965" b="4167"/>
          <a:stretch>
            <a:fillRect/>
          </a:stretch>
        </p:blipFill>
        <p:spPr bwMode="auto">
          <a:xfrm>
            <a:off x="76200" y="152400"/>
            <a:ext cx="9013004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67200" y="64770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8741" t="9375" r="19766" b="6250"/>
          <a:stretch>
            <a:fillRect/>
          </a:stretch>
        </p:blipFill>
        <p:spPr bwMode="auto">
          <a:xfrm>
            <a:off x="152400" y="139337"/>
            <a:ext cx="8915400" cy="664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10400" y="6477000"/>
            <a:ext cx="457200" cy="4572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l="1171" t="3125" r="27965" b="4167"/>
          <a:stretch>
            <a:fillRect/>
          </a:stretch>
        </p:blipFill>
        <p:spPr bwMode="auto">
          <a:xfrm>
            <a:off x="76200" y="152400"/>
            <a:ext cx="9013004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18155" t="9375" r="19765" b="6250"/>
          <a:stretch>
            <a:fillRect/>
          </a:stretch>
        </p:blipFill>
        <p:spPr bwMode="auto">
          <a:xfrm>
            <a:off x="76200" y="143774"/>
            <a:ext cx="8991600" cy="6638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00200" y="2057400"/>
            <a:ext cx="613684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fa-IR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ورود به سامانه با نام کاربری </a:t>
            </a:r>
          </a:p>
          <a:p>
            <a:pPr algn="ctr">
              <a:lnSpc>
                <a:spcPct val="200000"/>
              </a:lnSpc>
            </a:pPr>
            <a:r>
              <a:rPr lang="fa-IR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کارشناس پهنه</a:t>
            </a:r>
            <a:endParaRPr lang="en-US" sz="4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15227" t="18750" r="54319" b="13542"/>
          <a:stretch>
            <a:fillRect/>
          </a:stretch>
        </p:blipFill>
        <p:spPr bwMode="auto">
          <a:xfrm>
            <a:off x="2438400" y="838200"/>
            <a:ext cx="4495800" cy="561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43434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 l="18741" t="8333" r="19180" b="6250"/>
          <a:stretch>
            <a:fillRect/>
          </a:stretch>
        </p:blipFill>
        <p:spPr bwMode="auto">
          <a:xfrm>
            <a:off x="304800" y="162464"/>
            <a:ext cx="8458200" cy="6543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15227" t="18750" r="54319" b="13542"/>
          <a:stretch>
            <a:fillRect/>
          </a:stretch>
        </p:blipFill>
        <p:spPr bwMode="auto">
          <a:xfrm>
            <a:off x="2438400" y="838200"/>
            <a:ext cx="4495800" cy="561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52578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18155" t="9375" r="19180" b="6250"/>
          <a:stretch>
            <a:fillRect/>
          </a:stretch>
        </p:blipFill>
        <p:spPr bwMode="auto">
          <a:xfrm>
            <a:off x="533400" y="457200"/>
            <a:ext cx="81534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clic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0" y="58674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11127" t="6250" r="19766" b="4167"/>
          <a:stretch>
            <a:fillRect/>
          </a:stretch>
        </p:blipFill>
        <p:spPr bwMode="auto">
          <a:xfrm>
            <a:off x="0" y="152400"/>
            <a:ext cx="89916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ounded Rectangle 4"/>
          <p:cNvSpPr/>
          <p:nvPr/>
        </p:nvSpPr>
        <p:spPr>
          <a:xfrm>
            <a:off x="685800" y="4876800"/>
            <a:ext cx="1447800" cy="1219200"/>
          </a:xfrm>
          <a:prstGeom prst="roundRect">
            <a:avLst/>
          </a:prstGeom>
          <a:solidFill>
            <a:schemeClr val="accent1">
              <a:alpha val="39000"/>
            </a:schemeClr>
          </a:solidFill>
          <a:ln w="857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5"/>
          <p:cNvSpPr>
            <a:spLocks noChangeArrowheads="1"/>
          </p:cNvSpPr>
          <p:nvPr/>
        </p:nvSpPr>
        <p:spPr bwMode="auto">
          <a:xfrm>
            <a:off x="428625" y="571500"/>
            <a:ext cx="8215313" cy="562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 rtl="1" eaLnBrk="0" hangingPunct="0">
              <a:lnSpc>
                <a:spcPct val="150000"/>
              </a:lnSpc>
            </a:pPr>
            <a:r>
              <a:rPr lang="fa-IR" sz="2800" dirty="0">
                <a:solidFill>
                  <a:srgbClr val="943634"/>
                </a:solidFill>
                <a:latin typeface="Calibri" pitchFamily="34" charset="0"/>
                <a:ea typeface="Calibri" pitchFamily="34" charset="0"/>
                <a:cs typeface="B Titr" pitchFamily="2" charset="-78"/>
              </a:rPr>
              <a:t>اعتبار سنجی فرم صیفی </a:t>
            </a:r>
          </a:p>
          <a:p>
            <a:pPr algn="r" rtl="1" eaLnBrk="0" hangingPunct="0">
              <a:lnSpc>
                <a:spcPct val="150000"/>
              </a:lnSpc>
              <a:buClr>
                <a:srgbClr val="990033"/>
              </a:buClr>
              <a:buFont typeface="Wingdings" pitchFamily="2" charset="2"/>
              <a:buChar char="ü"/>
            </a:pPr>
            <a:endParaRPr lang="en-US" dirty="0">
              <a:ea typeface="Calibri" pitchFamily="34" charset="0"/>
              <a:cs typeface="B Titr" pitchFamily="2" charset="-78"/>
            </a:endParaRPr>
          </a:p>
          <a:p>
            <a:pPr algn="r" rtl="1" eaLnBrk="0" hangingPunct="0">
              <a:lnSpc>
                <a:spcPct val="150000"/>
              </a:lnSpc>
              <a:buClr>
                <a:srgbClr val="990033"/>
              </a:buClr>
              <a:buFont typeface="Wingdings" pitchFamily="2" charset="2"/>
              <a:buChar char="ü"/>
            </a:pPr>
            <a:r>
              <a:rPr lang="fa-IR" sz="2800" dirty="0">
                <a:latin typeface="Calibri" pitchFamily="34" charset="0"/>
                <a:ea typeface="Calibri" pitchFamily="34" charset="0"/>
                <a:cs typeface="B Titr" pitchFamily="2" charset="-78"/>
              </a:rPr>
              <a:t> مجموع زیر کشت نمی تواند از کل مساحت زمین بزرگتر باشد </a:t>
            </a:r>
            <a:endParaRPr lang="en-US" dirty="0">
              <a:cs typeface="B Titr" pitchFamily="2" charset="-78"/>
            </a:endParaRPr>
          </a:p>
          <a:p>
            <a:pPr algn="r" rtl="1" eaLnBrk="0" hangingPunct="0">
              <a:lnSpc>
                <a:spcPct val="150000"/>
              </a:lnSpc>
              <a:buClr>
                <a:srgbClr val="990033"/>
              </a:buClr>
              <a:buFont typeface="Wingdings" pitchFamily="2" charset="2"/>
              <a:buChar char="ü"/>
            </a:pPr>
            <a:r>
              <a:rPr lang="fa-IR" sz="2800" dirty="0">
                <a:latin typeface="Calibri" pitchFamily="34" charset="0"/>
                <a:cs typeface="B Titr" pitchFamily="2" charset="-78"/>
              </a:rPr>
              <a:t> سطح برداشت هر محصول نمی تواند از سطح کاشت آن بزرگتر باشد </a:t>
            </a:r>
            <a:endParaRPr lang="en-US" dirty="0">
              <a:cs typeface="B Titr" pitchFamily="2" charset="-78"/>
            </a:endParaRPr>
          </a:p>
          <a:p>
            <a:pPr algn="r" rtl="1" eaLnBrk="0" hangingPunct="0">
              <a:lnSpc>
                <a:spcPct val="150000"/>
              </a:lnSpc>
              <a:buClr>
                <a:srgbClr val="990033"/>
              </a:buClr>
              <a:buFont typeface="Wingdings" pitchFamily="2" charset="2"/>
              <a:buChar char="ü"/>
            </a:pPr>
            <a:r>
              <a:rPr lang="fa-IR" sz="2800" dirty="0">
                <a:latin typeface="Calibri" pitchFamily="34" charset="0"/>
                <a:cs typeface="B Titr" pitchFamily="2" charset="-78"/>
              </a:rPr>
              <a:t> پیش بینی تولید هر محصول نمی تواند از حداکثر </a:t>
            </a:r>
            <a:r>
              <a:rPr lang="fa-IR" sz="2800" dirty="0" smtClean="0">
                <a:latin typeface="Calibri" pitchFamily="34" charset="0"/>
                <a:cs typeface="B Titr" pitchFamily="2" charset="-78"/>
              </a:rPr>
              <a:t>مجازآن </a:t>
            </a:r>
            <a:r>
              <a:rPr lang="fa-IR" sz="2800" dirty="0">
                <a:latin typeface="Calibri" pitchFamily="34" charset="0"/>
                <a:cs typeface="B Titr" pitchFamily="2" charset="-78"/>
              </a:rPr>
              <a:t>بزرگتر باشد </a:t>
            </a:r>
            <a:endParaRPr lang="en-US" dirty="0">
              <a:cs typeface="B Titr" pitchFamily="2" charset="-78"/>
            </a:endParaRPr>
          </a:p>
          <a:p>
            <a:pPr algn="r" rtl="1" eaLnBrk="0" hangingPunct="0">
              <a:lnSpc>
                <a:spcPct val="150000"/>
              </a:lnSpc>
              <a:buClr>
                <a:srgbClr val="990033"/>
              </a:buClr>
              <a:buFont typeface="Wingdings" pitchFamily="2" charset="2"/>
              <a:buChar char="ü"/>
            </a:pPr>
            <a:r>
              <a:rPr lang="fa-IR" sz="2800" dirty="0">
                <a:latin typeface="Calibri" pitchFamily="34" charset="0"/>
                <a:cs typeface="B Titr" pitchFamily="2" charset="-78"/>
              </a:rPr>
              <a:t> میزان تولید قطعی  هر محصول نمی تواند از حداکثر </a:t>
            </a:r>
            <a:r>
              <a:rPr lang="fa-IR" sz="2800" dirty="0" smtClean="0">
                <a:latin typeface="Calibri" pitchFamily="34" charset="0"/>
                <a:cs typeface="B Titr" pitchFamily="2" charset="-78"/>
              </a:rPr>
              <a:t>مجازآن </a:t>
            </a:r>
            <a:r>
              <a:rPr lang="fa-IR" sz="2800" dirty="0">
                <a:latin typeface="Calibri" pitchFamily="34" charset="0"/>
                <a:cs typeface="B Titr" pitchFamily="2" charset="-78"/>
              </a:rPr>
              <a:t>بزرگتر باشد </a:t>
            </a:r>
            <a:endParaRPr lang="fa-IR" sz="4400" dirty="0">
              <a:cs typeface="B Titr" pitchFamily="2" charset="-78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/>
          <p:cNvSpPr/>
          <p:nvPr/>
        </p:nvSpPr>
        <p:spPr>
          <a:xfrm>
            <a:off x="152400" y="152400"/>
            <a:ext cx="8763000" cy="6400800"/>
          </a:xfrm>
          <a:prstGeom prst="roundRect">
            <a:avLst/>
          </a:prstGeom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066800" y="3810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رئیس مرکز</a:t>
            </a:r>
            <a:endParaRPr lang="en-US" sz="1400" dirty="0"/>
          </a:p>
        </p:txBody>
      </p:sp>
      <p:sp>
        <p:nvSpPr>
          <p:cNvPr id="34" name="Rounded Rectangle 33"/>
          <p:cNvSpPr/>
          <p:nvPr/>
        </p:nvSpPr>
        <p:spPr>
          <a:xfrm>
            <a:off x="6934200" y="838200"/>
            <a:ext cx="1752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 smtClean="0"/>
              <a:t>اطلاعات اولیه</a:t>
            </a:r>
            <a:endParaRPr lang="en-US" dirty="0"/>
          </a:p>
        </p:txBody>
      </p:sp>
      <p:sp>
        <p:nvSpPr>
          <p:cNvPr id="35" name="Rounded Rectangle 34"/>
          <p:cNvSpPr/>
          <p:nvPr/>
        </p:nvSpPr>
        <p:spPr>
          <a:xfrm>
            <a:off x="7010400" y="3048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کارشناس پهنه</a:t>
            </a:r>
            <a:endParaRPr lang="en-US" sz="1400" dirty="0"/>
          </a:p>
        </p:txBody>
      </p:sp>
      <p:pic>
        <p:nvPicPr>
          <p:cNvPr id="37" name="Picture 36" descr="noto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2125" y="914400"/>
            <a:ext cx="371475" cy="371475"/>
          </a:xfrm>
          <a:prstGeom prst="rect">
            <a:avLst/>
          </a:prstGeom>
        </p:spPr>
      </p:pic>
      <p:pic>
        <p:nvPicPr>
          <p:cNvPr id="38" name="Picture 37" descr="conifor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600" y="1371600"/>
            <a:ext cx="457200" cy="45720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6858000" y="3352800"/>
            <a:ext cx="1905000" cy="609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 smtClean="0"/>
              <a:t>اطلاعات تکمیلی</a:t>
            </a:r>
            <a:endParaRPr lang="en-US" dirty="0"/>
          </a:p>
        </p:txBody>
      </p:sp>
      <p:sp>
        <p:nvSpPr>
          <p:cNvPr id="42" name="Rounded Rectangle 41"/>
          <p:cNvSpPr/>
          <p:nvPr/>
        </p:nvSpPr>
        <p:spPr>
          <a:xfrm>
            <a:off x="7010400" y="28194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کارشناس پهنه</a:t>
            </a:r>
            <a:endParaRPr lang="en-US" sz="1400" dirty="0"/>
          </a:p>
        </p:txBody>
      </p:sp>
      <p:sp>
        <p:nvSpPr>
          <p:cNvPr id="49" name="Rounded Rectangle 48"/>
          <p:cNvSpPr/>
          <p:nvPr/>
        </p:nvSpPr>
        <p:spPr>
          <a:xfrm>
            <a:off x="4953000" y="5181600"/>
            <a:ext cx="3733800" cy="6096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 smtClean="0"/>
              <a:t>ثبت اطلاعات سطح برداشت و تولید </a:t>
            </a:r>
            <a:endParaRPr lang="en-US" dirty="0"/>
          </a:p>
        </p:txBody>
      </p:sp>
      <p:sp>
        <p:nvSpPr>
          <p:cNvPr id="50" name="Rounded Rectangle 49"/>
          <p:cNvSpPr/>
          <p:nvPr/>
        </p:nvSpPr>
        <p:spPr>
          <a:xfrm>
            <a:off x="7010400" y="46482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کارشناس پهنه</a:t>
            </a:r>
            <a:endParaRPr lang="en-US" sz="1400" dirty="0"/>
          </a:p>
        </p:txBody>
      </p:sp>
      <p:sp>
        <p:nvSpPr>
          <p:cNvPr id="51" name="Horizontal Scroll 50"/>
          <p:cNvSpPr/>
          <p:nvPr/>
        </p:nvSpPr>
        <p:spPr>
          <a:xfrm>
            <a:off x="3048000" y="1981200"/>
            <a:ext cx="3200400" cy="762000"/>
          </a:xfrm>
          <a:prstGeom prst="horizontalScroll">
            <a:avLst/>
          </a:prstGeom>
          <a:solidFill>
            <a:srgbClr val="C0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 smtClean="0"/>
              <a:t>45 روز بعد از اولین آبیاری</a:t>
            </a:r>
            <a:endParaRPr lang="en-US" b="1" dirty="0"/>
          </a:p>
        </p:txBody>
      </p:sp>
      <p:sp>
        <p:nvSpPr>
          <p:cNvPr id="54" name="Curved Right Arrow 53"/>
          <p:cNvSpPr/>
          <p:nvPr/>
        </p:nvSpPr>
        <p:spPr>
          <a:xfrm>
            <a:off x="1143000" y="1524000"/>
            <a:ext cx="533400" cy="762000"/>
          </a:xfrm>
          <a:prstGeom prst="curvedRightArrow">
            <a:avLst/>
          </a:prstGeom>
          <a:solidFill>
            <a:srgbClr val="92D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8" name="Picture 57" descr="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857875" y="762000"/>
            <a:ext cx="1076325" cy="838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76" name="Straight Arrow Connector 75"/>
          <p:cNvCxnSpPr/>
          <p:nvPr/>
        </p:nvCxnSpPr>
        <p:spPr>
          <a:xfrm rot="10800000">
            <a:off x="3469481" y="925286"/>
            <a:ext cx="1735931" cy="20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662363" y="442686"/>
            <a:ext cx="1543050" cy="4176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cs typeface="B Titr" pitchFamily="2" charset="-78"/>
              </a:rPr>
              <a:t>ثبت و ارسال</a:t>
            </a:r>
            <a:endParaRPr lang="en-US" sz="2400" dirty="0"/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3533775" y="1132114"/>
            <a:ext cx="1671638" cy="14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662363" y="1201057"/>
            <a:ext cx="1543050" cy="4176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cs typeface="B Titr" pitchFamily="2" charset="-78"/>
              </a:rPr>
              <a:t>عدم تائید</a:t>
            </a:r>
            <a:endParaRPr lang="en-US" sz="2400" dirty="0"/>
          </a:p>
        </p:txBody>
      </p:sp>
      <p:sp>
        <p:nvSpPr>
          <p:cNvPr id="80" name="Oval 79"/>
          <p:cNvSpPr/>
          <p:nvPr/>
        </p:nvSpPr>
        <p:spPr>
          <a:xfrm>
            <a:off x="3352800" y="304800"/>
            <a:ext cx="2057400" cy="1447800"/>
          </a:xfrm>
          <a:prstGeom prst="ellipse">
            <a:avLst/>
          </a:prstGeom>
          <a:solidFill>
            <a:srgbClr val="92D050">
              <a:alpha val="16000"/>
            </a:srgbClr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 descr="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91200" y="3352800"/>
            <a:ext cx="1076325" cy="838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8" name="Picture 87" descr="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76675" y="5181600"/>
            <a:ext cx="1076325" cy="838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90" name="Straight Connector 89"/>
          <p:cNvCxnSpPr/>
          <p:nvPr/>
        </p:nvCxnSpPr>
        <p:spPr>
          <a:xfrm rot="10800000">
            <a:off x="838200" y="1905000"/>
            <a:ext cx="7772400" cy="1589"/>
          </a:xfrm>
          <a:prstGeom prst="line">
            <a:avLst/>
          </a:prstGeom>
          <a:ln w="635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rot="10800000">
            <a:off x="3393281" y="3592286"/>
            <a:ext cx="1735931" cy="20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586163" y="3109686"/>
            <a:ext cx="1543050" cy="4176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cs typeface="B Titr" pitchFamily="2" charset="-78"/>
              </a:rPr>
              <a:t>ثبت و ارسال</a:t>
            </a:r>
            <a:endParaRPr lang="en-US" sz="2400" dirty="0"/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3457575" y="3799114"/>
            <a:ext cx="1671638" cy="14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586163" y="3868057"/>
            <a:ext cx="1543050" cy="4176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cs typeface="B Titr" pitchFamily="2" charset="-78"/>
              </a:rPr>
              <a:t>عدم تائید</a:t>
            </a:r>
            <a:endParaRPr lang="en-US" sz="2400" dirty="0"/>
          </a:p>
        </p:txBody>
      </p:sp>
      <p:sp>
        <p:nvSpPr>
          <p:cNvPr id="96" name="Oval 95"/>
          <p:cNvSpPr/>
          <p:nvPr/>
        </p:nvSpPr>
        <p:spPr>
          <a:xfrm>
            <a:off x="3200400" y="2895600"/>
            <a:ext cx="2057400" cy="1447800"/>
          </a:xfrm>
          <a:prstGeom prst="ellipse">
            <a:avLst/>
          </a:prstGeom>
          <a:solidFill>
            <a:srgbClr val="FFFF00">
              <a:alpha val="16000"/>
            </a:srgbClr>
          </a:solidFill>
          <a:ln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ounded Rectangle 106"/>
          <p:cNvSpPr/>
          <p:nvPr/>
        </p:nvSpPr>
        <p:spPr>
          <a:xfrm>
            <a:off x="1143000" y="2895600"/>
            <a:ext cx="1371600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/>
              <a:t>رئیس مرکز</a:t>
            </a:r>
            <a:endParaRPr lang="en-US" sz="1400" dirty="0"/>
          </a:p>
        </p:txBody>
      </p:sp>
      <p:pic>
        <p:nvPicPr>
          <p:cNvPr id="108" name="Picture 107" descr="noto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8325" y="3429000"/>
            <a:ext cx="371475" cy="371475"/>
          </a:xfrm>
          <a:prstGeom prst="rect">
            <a:avLst/>
          </a:prstGeom>
        </p:spPr>
      </p:pic>
      <p:pic>
        <p:nvPicPr>
          <p:cNvPr id="109" name="Picture 108" descr="conifor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0" y="3886200"/>
            <a:ext cx="457200" cy="457200"/>
          </a:xfrm>
          <a:prstGeom prst="rect">
            <a:avLst/>
          </a:prstGeom>
        </p:spPr>
      </p:pic>
      <p:sp>
        <p:nvSpPr>
          <p:cNvPr id="110" name="Curved Right Arrow 109"/>
          <p:cNvSpPr/>
          <p:nvPr/>
        </p:nvSpPr>
        <p:spPr>
          <a:xfrm>
            <a:off x="1219200" y="4038600"/>
            <a:ext cx="533400" cy="762000"/>
          </a:xfrm>
          <a:prstGeom prst="curvedRightArrow">
            <a:avLst/>
          </a:prstGeom>
          <a:solidFill>
            <a:srgbClr val="92D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 rot="10800000">
            <a:off x="914400" y="4419600"/>
            <a:ext cx="7772400" cy="1589"/>
          </a:xfrm>
          <a:prstGeom prst="line">
            <a:avLst/>
          </a:prstGeom>
          <a:ln w="635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41" grpId="0" animBg="1"/>
      <p:bldP spid="42" grpId="0" animBg="1"/>
      <p:bldP spid="49" grpId="0" animBg="1"/>
      <p:bldP spid="50" grpId="0" animBg="1"/>
      <p:bldP spid="51" grpId="0" animBg="1"/>
      <p:bldP spid="54" grpId="0" animBg="1"/>
      <p:bldP spid="77" grpId="0"/>
      <p:bldP spid="79" grpId="0"/>
      <p:bldP spid="80" grpId="0" animBg="1"/>
      <p:bldP spid="93" grpId="0"/>
      <p:bldP spid="95" grpId="0"/>
      <p:bldP spid="96" grpId="0" animBg="1"/>
      <p:bldP spid="107" grpId="0" animBg="1"/>
      <p:bldP spid="110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413</TotalTime>
  <Words>261</Words>
  <Application>Microsoft Office PowerPoint</Application>
  <PresentationFormat>On-screen Show (4:3)</PresentationFormat>
  <Paragraphs>55</Paragraphs>
  <Slides>43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Trek</vt:lpstr>
      <vt:lpstr>Slide 1</vt:lpstr>
      <vt:lpstr>TITLE</vt:lpstr>
      <vt:lpstr> هدف طرح :  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nobari</dc:creator>
  <cp:lastModifiedBy>Administrator</cp:lastModifiedBy>
  <cp:revision>49</cp:revision>
  <dcterms:created xsi:type="dcterms:W3CDTF">2018-07-07T11:22:41Z</dcterms:created>
  <dcterms:modified xsi:type="dcterms:W3CDTF">2018-10-02T05:48:02Z</dcterms:modified>
</cp:coreProperties>
</file>